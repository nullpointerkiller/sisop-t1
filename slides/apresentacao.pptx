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95fd08b-a6ea-7e2e-5945-f1bea824a91c}">
          <p14:sldIdLst>
            <p14:sldId id="256"/>
          </p14:sldIdLst>
        </p14:section>
        <p14:section name="Problema" id="{ac8eea4a-1797-574a-8514-9dc28c8f5701}">
          <p14:sldIdLst>
            <p14:sldId id="257"/>
          </p14:sldIdLst>
        </p14:section>
        <p14:section name="Solução" id="{16652138-296a-5529-b143-23881a85cc64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sultados" id="{04fae399-31c8-df3d-e0e3-8b00b252ed41}">
          <p14:sldIdLst>
            <p14:sldId id="265"/>
            <p14:sldId id="266"/>
            <p14:sldId id="267"/>
          </p14:sldIdLst>
        </p14:section>
        <p14:section name="Fechamento" id="{299a0f83-82e1-636b-4cef-f5e59281341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Apresentar o problema e a estratégia: duas versões equivalentes, sequencial (referência) e paralela com Pthreads.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 uma matriz 0/1, objeto é uma região de 1s ligados por aresta OU canto. Por isso diagonal conta: no exemplo, vários objetos só se tocam pelos cantos.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separado em leitura (matriz.c), flood fill (floodfill.c), paralelo (workers.c) e main.c. Um único executável roda a versão paralela e depois a sequencial sobre os mesmos dados e imprime o tempo só da contagem.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Percorre a matriz; ao achar 1 não visitado conta +1 e marca a região inteira. A primeira versão era recursiva e estourava a pilha na 800x800; trocamos por pilha explícita. Mostrar ao vivo: ./contador tests/obrigatorios/exemplo1_5x5.txt 2 (3).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central do trabalho. Cada thread só enxerga a sua faixa e conta o pedaço do objeto central como se fosse um objeto inteiro. A soma dá 6, mas o correto é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Faixas contíguas de linhas. Fronteiras só horizontais, o que simplifica a consolidação. Escalonamento estático. Limitação: matriz com densidade muito irregular desbalanceia a 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Cada thread escreve só nos rótulos das suas linhas e apenas lê a matriz. Verificamos pthread_create, pthread_join e malloc; falha numa thread é sinalizada em Worker.erro e dividirTrabalho retorna -1 depois do join.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com demonstração: ./contador tests/obrigatorios/exemplo3_8x8.txt 2 (5) e com 4 e 8 threads (continua 5). Se o objeto cruza 3+ faixas, as uniões encadeiam por transitividade.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explicitamente quais trechos são paralelos (item 33 do enunciado). A parte dominante, o flood fill, é paralela; o restante é sequencial por simplicidade e para evitar 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make test roda tudo e mostra APROVADO. As cinco obrigatórias dão 3, 4, 5, 6 e 7 nas duas versões, com 1, 2, 3, 4 e 8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Com 1 thread o paralelo é mais lento (S = 0,86): criação da thread e alocação dos rótulos e do union-find. Com 4 threads S = 2,55; de 4 para 8 quase não melhora porque a máquina tem 4 núcleos físicos. Medido no Windows; refazer no Linux para 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Problemas reais do histórico do repositório: o flood fill recursivo estourava a pilha da thread na 800x800, as threads escreviam fora da própria faixa, objetos na fronteira eram contados duas vezes e erros de pthread/malloc não eram tratados.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Objetivos atingidos, limitações assumidas e melhorias futuras realistas.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PUCRS | Sistemas Operacionais 2026/II | Contagem paralela de objetos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PUCRS | Sistemas Operacionais 2026/II | Contagem paralela de objetos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51206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4612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Contagem paralela de objetos em uma matriz binária</a:t>
            </a:r>
            <a:endParaRPr lang="en-US" sz="38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640080" y="3246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Sequencial x Pthreads, conectividade 8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Sistemas Operacionais 2026/II | PUCRS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[PREENCHER nomes dos integrantes]</a:t>
            </a:r>
            <a:endParaRPr lang="en-US" sz="1800" dirty="0"/>
          </a:p>
        </p:txBody>
      </p:sp>
      <p:sp>
        <p:nvSpPr>
          <p:cNvPr id="4" name="celula_0_0"/>
          <p:cNvSpPr/>
          <p:nvPr/>
        </p:nvSpPr>
        <p:spPr>
          <a:xfrm>
            <a:off x="6126480" y="1463040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celula_0_1"/>
          <p:cNvSpPr/>
          <p:nvPr/>
        </p:nvSpPr>
        <p:spPr>
          <a:xfrm>
            <a:off x="6601968" y="1463040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celula_0_2"/>
          <p:cNvSpPr/>
          <p:nvPr/>
        </p:nvSpPr>
        <p:spPr>
          <a:xfrm>
            <a:off x="7077456" y="1463040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celula_0_3"/>
          <p:cNvSpPr/>
          <p:nvPr/>
        </p:nvSpPr>
        <p:spPr>
          <a:xfrm>
            <a:off x="7552944" y="1463040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celula_0_4"/>
          <p:cNvSpPr/>
          <p:nvPr/>
        </p:nvSpPr>
        <p:spPr>
          <a:xfrm>
            <a:off x="8028432" y="1463040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celula_1_0"/>
          <p:cNvSpPr/>
          <p:nvPr/>
        </p:nvSpPr>
        <p:spPr>
          <a:xfrm>
            <a:off x="6126480" y="1938528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celula_1_1"/>
          <p:cNvSpPr/>
          <p:nvPr/>
        </p:nvSpPr>
        <p:spPr>
          <a:xfrm>
            <a:off x="6601968" y="1938528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celula_1_2"/>
          <p:cNvSpPr/>
          <p:nvPr/>
        </p:nvSpPr>
        <p:spPr>
          <a:xfrm>
            <a:off x="7077456" y="1938528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celula_1_3"/>
          <p:cNvSpPr/>
          <p:nvPr/>
        </p:nvSpPr>
        <p:spPr>
          <a:xfrm>
            <a:off x="7552944" y="1938528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celula_1_4"/>
          <p:cNvSpPr/>
          <p:nvPr/>
        </p:nvSpPr>
        <p:spPr>
          <a:xfrm>
            <a:off x="8028432" y="1938528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celula_2_0"/>
          <p:cNvSpPr/>
          <p:nvPr/>
        </p:nvSpPr>
        <p:spPr>
          <a:xfrm>
            <a:off x="6126480" y="2414016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celula_2_1"/>
          <p:cNvSpPr/>
          <p:nvPr/>
        </p:nvSpPr>
        <p:spPr>
          <a:xfrm>
            <a:off x="6601968" y="2414016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celula_2_2"/>
          <p:cNvSpPr/>
          <p:nvPr/>
        </p:nvSpPr>
        <p:spPr>
          <a:xfrm>
            <a:off x="7077456" y="2414016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celula_2_3"/>
          <p:cNvSpPr/>
          <p:nvPr/>
        </p:nvSpPr>
        <p:spPr>
          <a:xfrm>
            <a:off x="7552944" y="2414016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celula_2_4"/>
          <p:cNvSpPr/>
          <p:nvPr/>
        </p:nvSpPr>
        <p:spPr>
          <a:xfrm>
            <a:off x="8028432" y="2414016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celula_3_0"/>
          <p:cNvSpPr/>
          <p:nvPr/>
        </p:nvSpPr>
        <p:spPr>
          <a:xfrm>
            <a:off x="6126480" y="2889504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celula_3_1"/>
          <p:cNvSpPr/>
          <p:nvPr/>
        </p:nvSpPr>
        <p:spPr>
          <a:xfrm>
            <a:off x="6601968" y="2889504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celula_3_2"/>
          <p:cNvSpPr/>
          <p:nvPr/>
        </p:nvSpPr>
        <p:spPr>
          <a:xfrm>
            <a:off x="7077456" y="2889504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celula_3_3"/>
          <p:cNvSpPr/>
          <p:nvPr/>
        </p:nvSpPr>
        <p:spPr>
          <a:xfrm>
            <a:off x="7552944" y="2889504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celula_3_4"/>
          <p:cNvSpPr/>
          <p:nvPr/>
        </p:nvSpPr>
        <p:spPr>
          <a:xfrm>
            <a:off x="8028432" y="2889504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celula_4_0"/>
          <p:cNvSpPr/>
          <p:nvPr/>
        </p:nvSpPr>
        <p:spPr>
          <a:xfrm>
            <a:off x="6126480" y="3364992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celula_4_1"/>
          <p:cNvSpPr/>
          <p:nvPr/>
        </p:nvSpPr>
        <p:spPr>
          <a:xfrm>
            <a:off x="6601968" y="3364992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celula_4_2"/>
          <p:cNvSpPr/>
          <p:nvPr/>
        </p:nvSpPr>
        <p:spPr>
          <a:xfrm>
            <a:off x="7077456" y="3364992"/>
            <a:ext cx="475488" cy="47548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celula_4_3"/>
          <p:cNvSpPr/>
          <p:nvPr/>
        </p:nvSpPr>
        <p:spPr>
          <a:xfrm>
            <a:off x="7552944" y="3364992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celula_4_4"/>
          <p:cNvSpPr/>
          <p:nvPr/>
        </p:nvSpPr>
        <p:spPr>
          <a:xfrm>
            <a:off x="8028432" y="3364992"/>
            <a:ext cx="47548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problema: contar objetos na matriz</a:t>
            </a:r>
            <a:endParaRPr lang="en-US" sz="3000" dirty="0"/>
          </a:p>
        </p:txBody>
      </p:sp>
      <p:sp>
        <p:nvSpPr>
          <p:cNvPr id="3" name="celula_0_0"/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celula_0_1"/>
          <p:cNvSpPr/>
          <p:nvPr/>
        </p:nvSpPr>
        <p:spPr>
          <a:xfrm>
            <a:off x="1005840" y="123444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celula_0_2"/>
          <p:cNvSpPr/>
          <p:nvPr/>
        </p:nvSpPr>
        <p:spPr>
          <a:xfrm>
            <a:off x="1554480" y="123444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celula_0_3"/>
          <p:cNvSpPr/>
          <p:nvPr/>
        </p:nvSpPr>
        <p:spPr>
          <a:xfrm>
            <a:off x="2103120" y="123444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celula_0_4"/>
          <p:cNvSpPr/>
          <p:nvPr/>
        </p:nvSpPr>
        <p:spPr>
          <a:xfrm>
            <a:off x="2651760" y="123444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celula_0_5"/>
          <p:cNvSpPr/>
          <p:nvPr/>
        </p:nvSpPr>
        <p:spPr>
          <a:xfrm>
            <a:off x="3200400" y="123444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celula_0_6"/>
          <p:cNvSpPr/>
          <p:nvPr/>
        </p:nvSpPr>
        <p:spPr>
          <a:xfrm>
            <a:off x="3749040" y="123444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celula_1_0"/>
          <p:cNvSpPr/>
          <p:nvPr/>
        </p:nvSpPr>
        <p:spPr>
          <a:xfrm>
            <a:off x="457200" y="178308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celula_1_1"/>
          <p:cNvSpPr/>
          <p:nvPr/>
        </p:nvSpPr>
        <p:spPr>
          <a:xfrm>
            <a:off x="1005840" y="178308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celula_1_2"/>
          <p:cNvSpPr/>
          <p:nvPr/>
        </p:nvSpPr>
        <p:spPr>
          <a:xfrm>
            <a:off x="1554480" y="178308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celula_1_3"/>
          <p:cNvSpPr/>
          <p:nvPr/>
        </p:nvSpPr>
        <p:spPr>
          <a:xfrm>
            <a:off x="2103120" y="178308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celula_1_4"/>
          <p:cNvSpPr/>
          <p:nvPr/>
        </p:nvSpPr>
        <p:spPr>
          <a:xfrm>
            <a:off x="2651760" y="178308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celula_1_5"/>
          <p:cNvSpPr/>
          <p:nvPr/>
        </p:nvSpPr>
        <p:spPr>
          <a:xfrm>
            <a:off x="3200400" y="178308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celula_1_6"/>
          <p:cNvSpPr/>
          <p:nvPr/>
        </p:nvSpPr>
        <p:spPr>
          <a:xfrm>
            <a:off x="3749040" y="178308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celula_2_0"/>
          <p:cNvSpPr/>
          <p:nvPr/>
        </p:nvSpPr>
        <p:spPr>
          <a:xfrm>
            <a:off x="457200" y="233172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celula_2_1"/>
          <p:cNvSpPr/>
          <p:nvPr/>
        </p:nvSpPr>
        <p:spPr>
          <a:xfrm>
            <a:off x="1005840" y="233172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celula_2_2"/>
          <p:cNvSpPr/>
          <p:nvPr/>
        </p:nvSpPr>
        <p:spPr>
          <a:xfrm>
            <a:off x="1554480" y="233172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celula_2_3"/>
          <p:cNvSpPr/>
          <p:nvPr/>
        </p:nvSpPr>
        <p:spPr>
          <a:xfrm>
            <a:off x="2103120" y="233172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celula_2_4"/>
          <p:cNvSpPr/>
          <p:nvPr/>
        </p:nvSpPr>
        <p:spPr>
          <a:xfrm>
            <a:off x="2651760" y="233172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celula_2_5"/>
          <p:cNvSpPr/>
          <p:nvPr/>
        </p:nvSpPr>
        <p:spPr>
          <a:xfrm>
            <a:off x="3200400" y="233172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celula_2_6"/>
          <p:cNvSpPr/>
          <p:nvPr/>
        </p:nvSpPr>
        <p:spPr>
          <a:xfrm>
            <a:off x="3749040" y="233172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celula_3_0"/>
          <p:cNvSpPr/>
          <p:nvPr/>
        </p:nvSpPr>
        <p:spPr>
          <a:xfrm>
            <a:off x="457200" y="288036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celula_3_1"/>
          <p:cNvSpPr/>
          <p:nvPr/>
        </p:nvSpPr>
        <p:spPr>
          <a:xfrm>
            <a:off x="1005840" y="288036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celula_3_2"/>
          <p:cNvSpPr/>
          <p:nvPr/>
        </p:nvSpPr>
        <p:spPr>
          <a:xfrm>
            <a:off x="1554480" y="288036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celula_3_3"/>
          <p:cNvSpPr/>
          <p:nvPr/>
        </p:nvSpPr>
        <p:spPr>
          <a:xfrm>
            <a:off x="2103120" y="288036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celula_3_4"/>
          <p:cNvSpPr/>
          <p:nvPr/>
        </p:nvSpPr>
        <p:spPr>
          <a:xfrm>
            <a:off x="2651760" y="288036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celula_3_5"/>
          <p:cNvSpPr/>
          <p:nvPr/>
        </p:nvSpPr>
        <p:spPr>
          <a:xfrm>
            <a:off x="3200400" y="288036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celula_3_6"/>
          <p:cNvSpPr/>
          <p:nvPr/>
        </p:nvSpPr>
        <p:spPr>
          <a:xfrm>
            <a:off x="3749040" y="288036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celula_4_0"/>
          <p:cNvSpPr/>
          <p:nvPr/>
        </p:nvSpPr>
        <p:spPr>
          <a:xfrm>
            <a:off x="457200" y="342900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celula_4_1"/>
          <p:cNvSpPr/>
          <p:nvPr/>
        </p:nvSpPr>
        <p:spPr>
          <a:xfrm>
            <a:off x="1005840" y="342900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celula_4_2"/>
          <p:cNvSpPr/>
          <p:nvPr/>
        </p:nvSpPr>
        <p:spPr>
          <a:xfrm>
            <a:off x="1554480" y="342900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celula_4_3"/>
          <p:cNvSpPr/>
          <p:nvPr/>
        </p:nvSpPr>
        <p:spPr>
          <a:xfrm>
            <a:off x="2103120" y="342900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celula_4_4"/>
          <p:cNvSpPr/>
          <p:nvPr/>
        </p:nvSpPr>
        <p:spPr>
          <a:xfrm>
            <a:off x="2651760" y="342900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celula_4_5"/>
          <p:cNvSpPr/>
          <p:nvPr/>
        </p:nvSpPr>
        <p:spPr>
          <a:xfrm>
            <a:off x="3200400" y="3429000"/>
            <a:ext cx="548640" cy="548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celula_4_6"/>
          <p:cNvSpPr/>
          <p:nvPr/>
        </p:nvSpPr>
        <p:spPr>
          <a:xfrm>
            <a:off x="3749040" y="3429000"/>
            <a:ext cx="5486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" y="4069080"/>
            <a:ext cx="3840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Exemplo 5x7: 5 objetos</a:t>
            </a:r>
            <a:endParaRPr lang="en-US" sz="1400" dirty="0"/>
          </a:p>
        </p:txBody>
      </p:sp>
      <p:sp>
        <p:nvSpPr>
          <p:cNvPr id="39" name="card"/>
          <p:cNvSpPr/>
          <p:nvPr/>
        </p:nvSpPr>
        <p:spPr>
          <a:xfrm>
            <a:off x="4663440" y="118872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846320" y="1280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0 = fundo, 1 = primeiro plano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Objeto: região de 1s ligados por aresta ou por canto</a:t>
            </a:r>
            <a:endParaRPr lang="en-US" sz="1500" dirty="0"/>
          </a:p>
        </p:txBody>
      </p:sp>
      <p:sp>
        <p:nvSpPr>
          <p:cNvPr id="41" name="card"/>
          <p:cNvSpPr/>
          <p:nvPr/>
        </p:nvSpPr>
        <p:spPr>
          <a:xfrm>
            <a:off x="4663440" y="242316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846320" y="25420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Conectividade 8: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os 8 vizinhos contam, inclusive a diagonal</a:t>
            </a:r>
            <a:endParaRPr lang="en-US" sz="1500" dirty="0"/>
          </a:p>
        </p:txBody>
      </p:sp>
      <p:sp>
        <p:nvSpPr>
          <p:cNvPr id="43" name="card"/>
          <p:cNvSpPr/>
          <p:nvPr/>
        </p:nvSpPr>
        <p:spPr>
          <a:xfrm>
            <a:off x="4663440" y="352044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84632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Entregas: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versão sequencial (referência) e versão paralela com Pthreads, mesmo resultado, ANSI C (C89)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Arquitetura do código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075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matriz.c / .h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Leitura do arquivo (LxC + valores) e liberação da matriz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4663440" y="118872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0" y="13075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floodfill.c / .h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Contagem sequencial: flood fill iterativo + matriz visitado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57200" y="242316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420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workers.c / .h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Contagem paralela: threads, rotulação local, union-find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663440" y="242316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25420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Programa principal: argumentos, cronômetro, roda as duas versões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Fluxo: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lerMatriz  &gt;  dividirTrabalho(p)  &gt;  versaoSequencial()  &gt;  imprime objetos e tempo  &gt;  liberarMatriz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Versão sequencial: flood fill iterativo</a:t>
            </a:r>
            <a:endParaRPr lang="en-US" sz="3000" dirty="0"/>
          </a:p>
        </p:txBody>
      </p:sp>
      <p:sp>
        <p:nvSpPr>
          <p:cNvPr id="3" name="codigo"/>
          <p:cNvSpPr/>
          <p:nvPr/>
        </p:nvSpPr>
        <p:spPr>
          <a:xfrm>
            <a:off x="457200" y="1188720"/>
            <a:ext cx="448056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2062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cada (i,j):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M[i][j]==1 e !vis[i][j]: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cont++ ; vis[i][j]=1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push(i,j)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enquanto pilha nao vazia: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(r,c) = pop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para dr,dc em {-1,0,1},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exceto (0,0):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 dentro, M==1, !vis: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vis=1 ; push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retorne cont</a:t>
            </a:r>
            <a:endParaRPr lang="en-US" sz="1300" dirty="0"/>
          </a:p>
        </p:txBody>
      </p:sp>
      <p:sp>
        <p:nvSpPr>
          <p:cNvPr id="5" name="badge1"/>
          <p:cNvSpPr txBox="1"/>
          <p:nvPr/>
        </p:nvSpPr>
        <p:spPr>
          <a:xfrm>
            <a:off x="5212080" y="1234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715000" y="1188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Matriz visitado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entrada não é alterada: sequencial e paralelo usam os mesmos dados</a:t>
            </a:r>
            <a:endParaRPr lang="en-US" sz="1400" dirty="0"/>
          </a:p>
        </p:txBody>
      </p:sp>
      <p:sp>
        <p:nvSpPr>
          <p:cNvPr id="7" name="badge2"/>
          <p:cNvSpPr txBox="1"/>
          <p:nvPr/>
        </p:nvSpPr>
        <p:spPr>
          <a:xfrm>
            <a:off x="5212080" y="20848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03911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Pilha explícita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sem recursão, sem estouro de pilha em matrizes grandes</a:t>
            </a:r>
            <a:endParaRPr lang="en-US" sz="1400" dirty="0"/>
          </a:p>
        </p:txBody>
      </p:sp>
      <p:sp>
        <p:nvSpPr>
          <p:cNvPr id="9" name="badge3"/>
          <p:cNvSpPr txBox="1"/>
          <p:nvPr/>
        </p:nvSpPr>
        <p:spPr>
          <a:xfrm>
            <a:off x="5212080" y="29352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715000" y="28895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Marca ao empilhar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célula entra uma vez: pilha de no máximo L·C</a:t>
            </a:r>
            <a:endParaRPr lang="en-US" sz="1400" dirty="0"/>
          </a:p>
        </p:txBody>
      </p:sp>
      <p:sp>
        <p:nvSpPr>
          <p:cNvPr id="11" name="badge4"/>
          <p:cNvSpPr txBox="1"/>
          <p:nvPr/>
        </p:nvSpPr>
        <p:spPr>
          <a:xfrm>
            <a:off x="5212080" y="37856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73989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Custo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tempo e memória O(L·C)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desafio: um objeto cruza as faixas</a:t>
            </a:r>
            <a:endParaRPr lang="en-US" sz="3000" dirty="0"/>
          </a:p>
        </p:txBody>
      </p:sp>
      <p:sp>
        <p:nvSpPr>
          <p:cNvPr id="3" name="celula_0_0"/>
          <p:cNvSpPr/>
          <p:nvPr/>
        </p:nvSpPr>
        <p:spPr>
          <a:xfrm>
            <a:off x="457200" y="1188720"/>
            <a:ext cx="393192" cy="3931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celula_0_1"/>
          <p:cNvSpPr/>
          <p:nvPr/>
        </p:nvSpPr>
        <p:spPr>
          <a:xfrm>
            <a:off x="850392" y="1188720"/>
            <a:ext cx="393192" cy="3931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celula_0_2"/>
          <p:cNvSpPr/>
          <p:nvPr/>
        </p:nvSpPr>
        <p:spPr>
          <a:xfrm>
            <a:off x="1243584" y="118872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celula_0_3"/>
          <p:cNvSpPr/>
          <p:nvPr/>
        </p:nvSpPr>
        <p:spPr>
          <a:xfrm>
            <a:off x="1636776" y="118872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celula_0_4"/>
          <p:cNvSpPr/>
          <p:nvPr/>
        </p:nvSpPr>
        <p:spPr>
          <a:xfrm>
            <a:off x="2029968" y="118872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celula_0_5"/>
          <p:cNvSpPr/>
          <p:nvPr/>
        </p:nvSpPr>
        <p:spPr>
          <a:xfrm>
            <a:off x="2423160" y="118872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celula_0_6"/>
          <p:cNvSpPr/>
          <p:nvPr/>
        </p:nvSpPr>
        <p:spPr>
          <a:xfrm>
            <a:off x="2816352" y="118872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celula_0_7"/>
          <p:cNvSpPr/>
          <p:nvPr/>
        </p:nvSpPr>
        <p:spPr>
          <a:xfrm>
            <a:off x="3209544" y="118872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celula_1_0"/>
          <p:cNvSpPr/>
          <p:nvPr/>
        </p:nvSpPr>
        <p:spPr>
          <a:xfrm>
            <a:off x="457200" y="1581912"/>
            <a:ext cx="393192" cy="3931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celula_1_1"/>
          <p:cNvSpPr/>
          <p:nvPr/>
        </p:nvSpPr>
        <p:spPr>
          <a:xfrm>
            <a:off x="850392" y="158191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celula_1_2"/>
          <p:cNvSpPr/>
          <p:nvPr/>
        </p:nvSpPr>
        <p:spPr>
          <a:xfrm>
            <a:off x="1243584" y="158191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celula_1_3"/>
          <p:cNvSpPr/>
          <p:nvPr/>
        </p:nvSpPr>
        <p:spPr>
          <a:xfrm>
            <a:off x="1636776" y="158191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celula_1_4"/>
          <p:cNvSpPr/>
          <p:nvPr/>
        </p:nvSpPr>
        <p:spPr>
          <a:xfrm>
            <a:off x="2029968" y="158191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celula_1_5"/>
          <p:cNvSpPr/>
          <p:nvPr/>
        </p:nvSpPr>
        <p:spPr>
          <a:xfrm>
            <a:off x="2423160" y="158191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celula_1_6"/>
          <p:cNvSpPr/>
          <p:nvPr/>
        </p:nvSpPr>
        <p:spPr>
          <a:xfrm>
            <a:off x="2816352" y="158191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celula_1_7"/>
          <p:cNvSpPr/>
          <p:nvPr/>
        </p:nvSpPr>
        <p:spPr>
          <a:xfrm>
            <a:off x="3209544" y="158191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celula_2_0"/>
          <p:cNvSpPr/>
          <p:nvPr/>
        </p:nvSpPr>
        <p:spPr>
          <a:xfrm>
            <a:off x="457200" y="197510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celula_2_1"/>
          <p:cNvSpPr/>
          <p:nvPr/>
        </p:nvSpPr>
        <p:spPr>
          <a:xfrm>
            <a:off x="850392" y="197510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celula_2_2"/>
          <p:cNvSpPr/>
          <p:nvPr/>
        </p:nvSpPr>
        <p:spPr>
          <a:xfrm>
            <a:off x="1243584" y="197510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celula_2_3"/>
          <p:cNvSpPr/>
          <p:nvPr/>
        </p:nvSpPr>
        <p:spPr>
          <a:xfrm>
            <a:off x="1636776" y="197510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celula_2_4"/>
          <p:cNvSpPr/>
          <p:nvPr/>
        </p:nvSpPr>
        <p:spPr>
          <a:xfrm>
            <a:off x="2029968" y="197510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celula_2_5"/>
          <p:cNvSpPr/>
          <p:nvPr/>
        </p:nvSpPr>
        <p:spPr>
          <a:xfrm>
            <a:off x="2423160" y="197510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celula_2_6"/>
          <p:cNvSpPr/>
          <p:nvPr/>
        </p:nvSpPr>
        <p:spPr>
          <a:xfrm>
            <a:off x="2816352" y="1975104"/>
            <a:ext cx="393192" cy="3931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celula_2_7"/>
          <p:cNvSpPr/>
          <p:nvPr/>
        </p:nvSpPr>
        <p:spPr>
          <a:xfrm>
            <a:off x="3209544" y="197510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celula_3_0"/>
          <p:cNvSpPr/>
          <p:nvPr/>
        </p:nvSpPr>
        <p:spPr>
          <a:xfrm>
            <a:off x="457200" y="2368296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celula_3_1"/>
          <p:cNvSpPr/>
          <p:nvPr/>
        </p:nvSpPr>
        <p:spPr>
          <a:xfrm>
            <a:off x="850392" y="2368296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celula_3_2"/>
          <p:cNvSpPr/>
          <p:nvPr/>
        </p:nvSpPr>
        <p:spPr>
          <a:xfrm>
            <a:off x="1243584" y="2368296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celula_3_3"/>
          <p:cNvSpPr/>
          <p:nvPr/>
        </p:nvSpPr>
        <p:spPr>
          <a:xfrm>
            <a:off x="1636776" y="2368296"/>
            <a:ext cx="393192" cy="3931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celula_3_4"/>
          <p:cNvSpPr/>
          <p:nvPr/>
        </p:nvSpPr>
        <p:spPr>
          <a:xfrm>
            <a:off x="2029968" y="2368296"/>
            <a:ext cx="393192" cy="3931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celula_3_5"/>
          <p:cNvSpPr/>
          <p:nvPr/>
        </p:nvSpPr>
        <p:spPr>
          <a:xfrm>
            <a:off x="2423160" y="2368296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celula_3_6"/>
          <p:cNvSpPr/>
          <p:nvPr/>
        </p:nvSpPr>
        <p:spPr>
          <a:xfrm>
            <a:off x="2816352" y="2368296"/>
            <a:ext cx="393192" cy="3931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celula_3_7"/>
          <p:cNvSpPr/>
          <p:nvPr/>
        </p:nvSpPr>
        <p:spPr>
          <a:xfrm>
            <a:off x="3209544" y="2368296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celula_4_0"/>
          <p:cNvSpPr/>
          <p:nvPr/>
        </p:nvSpPr>
        <p:spPr>
          <a:xfrm>
            <a:off x="457200" y="2761488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celula_4_1"/>
          <p:cNvSpPr/>
          <p:nvPr/>
        </p:nvSpPr>
        <p:spPr>
          <a:xfrm>
            <a:off x="850392" y="2761488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celula_4_2"/>
          <p:cNvSpPr/>
          <p:nvPr/>
        </p:nvSpPr>
        <p:spPr>
          <a:xfrm>
            <a:off x="1243584" y="2761488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celula_4_3"/>
          <p:cNvSpPr/>
          <p:nvPr/>
        </p:nvSpPr>
        <p:spPr>
          <a:xfrm>
            <a:off x="1636776" y="2761488"/>
            <a:ext cx="393192" cy="3931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celula_4_4"/>
          <p:cNvSpPr/>
          <p:nvPr/>
        </p:nvSpPr>
        <p:spPr>
          <a:xfrm>
            <a:off x="2029968" y="2761488"/>
            <a:ext cx="393192" cy="3931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celula_4_5"/>
          <p:cNvSpPr/>
          <p:nvPr/>
        </p:nvSpPr>
        <p:spPr>
          <a:xfrm>
            <a:off x="2423160" y="2761488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celula_4_6"/>
          <p:cNvSpPr/>
          <p:nvPr/>
        </p:nvSpPr>
        <p:spPr>
          <a:xfrm>
            <a:off x="2816352" y="2761488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2" name="celula_4_7"/>
          <p:cNvSpPr/>
          <p:nvPr/>
        </p:nvSpPr>
        <p:spPr>
          <a:xfrm>
            <a:off x="3209544" y="2761488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3" name="celula_5_0"/>
          <p:cNvSpPr/>
          <p:nvPr/>
        </p:nvSpPr>
        <p:spPr>
          <a:xfrm>
            <a:off x="457200" y="315468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celula_5_1"/>
          <p:cNvSpPr/>
          <p:nvPr/>
        </p:nvSpPr>
        <p:spPr>
          <a:xfrm>
            <a:off x="850392" y="315468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5" name="celula_5_2"/>
          <p:cNvSpPr/>
          <p:nvPr/>
        </p:nvSpPr>
        <p:spPr>
          <a:xfrm>
            <a:off x="1243584" y="315468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6" name="celula_5_3"/>
          <p:cNvSpPr/>
          <p:nvPr/>
        </p:nvSpPr>
        <p:spPr>
          <a:xfrm>
            <a:off x="1636776" y="315468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7" name="celula_5_4"/>
          <p:cNvSpPr/>
          <p:nvPr/>
        </p:nvSpPr>
        <p:spPr>
          <a:xfrm>
            <a:off x="2029968" y="315468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8" name="celula_5_5"/>
          <p:cNvSpPr/>
          <p:nvPr/>
        </p:nvSpPr>
        <p:spPr>
          <a:xfrm>
            <a:off x="2423160" y="315468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9" name="celula_5_6"/>
          <p:cNvSpPr/>
          <p:nvPr/>
        </p:nvSpPr>
        <p:spPr>
          <a:xfrm>
            <a:off x="2816352" y="315468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0" name="celula_5_7"/>
          <p:cNvSpPr/>
          <p:nvPr/>
        </p:nvSpPr>
        <p:spPr>
          <a:xfrm>
            <a:off x="3209544" y="3154680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1" name="celula_6_0"/>
          <p:cNvSpPr/>
          <p:nvPr/>
        </p:nvSpPr>
        <p:spPr>
          <a:xfrm>
            <a:off x="457200" y="354787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2" name="celula_6_1"/>
          <p:cNvSpPr/>
          <p:nvPr/>
        </p:nvSpPr>
        <p:spPr>
          <a:xfrm>
            <a:off x="850392" y="354787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3" name="celula_6_2"/>
          <p:cNvSpPr/>
          <p:nvPr/>
        </p:nvSpPr>
        <p:spPr>
          <a:xfrm>
            <a:off x="1243584" y="3547872"/>
            <a:ext cx="393192" cy="3931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4" name="celula_6_3"/>
          <p:cNvSpPr/>
          <p:nvPr/>
        </p:nvSpPr>
        <p:spPr>
          <a:xfrm>
            <a:off x="1636776" y="354787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5" name="celula_6_4"/>
          <p:cNvSpPr/>
          <p:nvPr/>
        </p:nvSpPr>
        <p:spPr>
          <a:xfrm>
            <a:off x="2029968" y="354787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6" name="celula_6_5"/>
          <p:cNvSpPr/>
          <p:nvPr/>
        </p:nvSpPr>
        <p:spPr>
          <a:xfrm>
            <a:off x="2423160" y="354787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7" name="celula_6_6"/>
          <p:cNvSpPr/>
          <p:nvPr/>
        </p:nvSpPr>
        <p:spPr>
          <a:xfrm>
            <a:off x="2816352" y="3547872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8" name="celula_6_7"/>
          <p:cNvSpPr/>
          <p:nvPr/>
        </p:nvSpPr>
        <p:spPr>
          <a:xfrm>
            <a:off x="3209544" y="3547872"/>
            <a:ext cx="393192" cy="3931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9" name="celula_7_0"/>
          <p:cNvSpPr/>
          <p:nvPr/>
        </p:nvSpPr>
        <p:spPr>
          <a:xfrm>
            <a:off x="457200" y="394106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0" name="celula_7_1"/>
          <p:cNvSpPr/>
          <p:nvPr/>
        </p:nvSpPr>
        <p:spPr>
          <a:xfrm>
            <a:off x="850392" y="394106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1" name="celula_7_2"/>
          <p:cNvSpPr/>
          <p:nvPr/>
        </p:nvSpPr>
        <p:spPr>
          <a:xfrm>
            <a:off x="1243584" y="3941064"/>
            <a:ext cx="393192" cy="3931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2" name="celula_7_3"/>
          <p:cNvSpPr/>
          <p:nvPr/>
        </p:nvSpPr>
        <p:spPr>
          <a:xfrm>
            <a:off x="1636776" y="394106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3" name="celula_7_4"/>
          <p:cNvSpPr/>
          <p:nvPr/>
        </p:nvSpPr>
        <p:spPr>
          <a:xfrm>
            <a:off x="2029968" y="394106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4" name="celula_7_5"/>
          <p:cNvSpPr/>
          <p:nvPr/>
        </p:nvSpPr>
        <p:spPr>
          <a:xfrm>
            <a:off x="2423160" y="3941064"/>
            <a:ext cx="393192" cy="3931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5" name="celula_7_6"/>
          <p:cNvSpPr/>
          <p:nvPr/>
        </p:nvSpPr>
        <p:spPr>
          <a:xfrm>
            <a:off x="2816352" y="3941064"/>
            <a:ext cx="393192" cy="3931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6" name="celula_7_7"/>
          <p:cNvSpPr/>
          <p:nvPr/>
        </p:nvSpPr>
        <p:spPr>
          <a:xfrm>
            <a:off x="3209544" y="3941064"/>
            <a:ext cx="393192" cy="3931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7" name="fronteira"/>
          <p:cNvSpPr/>
          <p:nvPr/>
        </p:nvSpPr>
        <p:spPr>
          <a:xfrm>
            <a:off x="365760" y="2761488"/>
            <a:ext cx="3328416" cy="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57200" y="4434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Exemplo 3 (8x8), p = 2: faixa 0 = linhas 0-3, faixa 1 = linhas 4-7</a:t>
            </a:r>
            <a:endParaRPr lang="en-US" sz="1100" dirty="0"/>
          </a:p>
        </p:txBody>
      </p:sp>
      <p:sp>
        <p:nvSpPr>
          <p:cNvPr id="69" name="card"/>
          <p:cNvSpPr/>
          <p:nvPr/>
        </p:nvSpPr>
        <p:spPr>
          <a:xfrm>
            <a:off x="4754880" y="118872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937760" y="129844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Contagens locais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faixa 0: 3 objetos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faixa 1: 3 objetos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Soma = 6  (errado)</a:t>
            </a:r>
            <a:endParaRPr lang="en-US" sz="1500" dirty="0"/>
          </a:p>
        </p:txBody>
      </p:sp>
      <p:sp>
        <p:nvSpPr>
          <p:cNvPr id="71" name="card"/>
          <p:cNvSpPr/>
          <p:nvPr/>
        </p:nvSpPr>
        <p:spPr>
          <a:xfrm>
            <a:off x="4754880" y="265176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937760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6"/>
                </a:solidFill>
              </a:rPr>
              <a:t>Resposta correta = 5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objeto central está nas linhas 3 e 4 e foi contado duas vezes</a:t>
            </a:r>
            <a:endParaRPr lang="en-US" sz="1500" dirty="0"/>
          </a:p>
        </p:txBody>
      </p:sp>
      <p:sp>
        <p:nvSpPr>
          <p:cNvPr id="73" name="Text 71"/>
          <p:cNvSpPr txBox="1"/>
          <p:nvPr/>
        </p:nvSpPr>
        <p:spPr>
          <a:xfrm>
            <a:off x="4754880" y="385876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Somar contagens locais não basta: é preciso reconhecer e unificar componentes equivalentes nas fronteiras.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Decomposição: faixas de linhas, uma por thread</a:t>
            </a:r>
            <a:endParaRPr lang="en-US" sz="3000" dirty="0"/>
          </a:p>
        </p:txBody>
      </p:sp>
      <p:sp>
        <p:nvSpPr>
          <p:cNvPr id="3" name="celula_0_0"/>
          <p:cNvSpPr/>
          <p:nvPr/>
        </p:nvSpPr>
        <p:spPr>
          <a:xfrm>
            <a:off x="457200" y="1188720"/>
            <a:ext cx="420624" cy="42062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celula_0_1"/>
          <p:cNvSpPr/>
          <p:nvPr/>
        </p:nvSpPr>
        <p:spPr>
          <a:xfrm>
            <a:off x="877824" y="1188720"/>
            <a:ext cx="420624" cy="42062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celula_0_2"/>
          <p:cNvSpPr/>
          <p:nvPr/>
        </p:nvSpPr>
        <p:spPr>
          <a:xfrm>
            <a:off x="1298448" y="118872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celula_0_3"/>
          <p:cNvSpPr/>
          <p:nvPr/>
        </p:nvSpPr>
        <p:spPr>
          <a:xfrm>
            <a:off x="1719072" y="118872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celula_0_4"/>
          <p:cNvSpPr/>
          <p:nvPr/>
        </p:nvSpPr>
        <p:spPr>
          <a:xfrm>
            <a:off x="2139696" y="118872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celula_0_5"/>
          <p:cNvSpPr/>
          <p:nvPr/>
        </p:nvSpPr>
        <p:spPr>
          <a:xfrm>
            <a:off x="2560320" y="118872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celula_0_6"/>
          <p:cNvSpPr/>
          <p:nvPr/>
        </p:nvSpPr>
        <p:spPr>
          <a:xfrm>
            <a:off x="2980944" y="118872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celula_0_7"/>
          <p:cNvSpPr/>
          <p:nvPr/>
        </p:nvSpPr>
        <p:spPr>
          <a:xfrm>
            <a:off x="3401568" y="118872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celula_1_0"/>
          <p:cNvSpPr/>
          <p:nvPr/>
        </p:nvSpPr>
        <p:spPr>
          <a:xfrm>
            <a:off x="457200" y="1609344"/>
            <a:ext cx="420624" cy="42062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celula_1_1"/>
          <p:cNvSpPr/>
          <p:nvPr/>
        </p:nvSpPr>
        <p:spPr>
          <a:xfrm>
            <a:off x="877824" y="160934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celula_1_2"/>
          <p:cNvSpPr/>
          <p:nvPr/>
        </p:nvSpPr>
        <p:spPr>
          <a:xfrm>
            <a:off x="1298448" y="160934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celula_1_3"/>
          <p:cNvSpPr/>
          <p:nvPr/>
        </p:nvSpPr>
        <p:spPr>
          <a:xfrm>
            <a:off x="1719072" y="160934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celula_1_4"/>
          <p:cNvSpPr/>
          <p:nvPr/>
        </p:nvSpPr>
        <p:spPr>
          <a:xfrm>
            <a:off x="2139696" y="160934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celula_1_5"/>
          <p:cNvSpPr/>
          <p:nvPr/>
        </p:nvSpPr>
        <p:spPr>
          <a:xfrm>
            <a:off x="2560320" y="160934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celula_1_6"/>
          <p:cNvSpPr/>
          <p:nvPr/>
        </p:nvSpPr>
        <p:spPr>
          <a:xfrm>
            <a:off x="2980944" y="160934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celula_1_7"/>
          <p:cNvSpPr/>
          <p:nvPr/>
        </p:nvSpPr>
        <p:spPr>
          <a:xfrm>
            <a:off x="3401568" y="160934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celula_2_0"/>
          <p:cNvSpPr/>
          <p:nvPr/>
        </p:nvSpPr>
        <p:spPr>
          <a:xfrm>
            <a:off x="457200" y="202996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celula_2_1"/>
          <p:cNvSpPr/>
          <p:nvPr/>
        </p:nvSpPr>
        <p:spPr>
          <a:xfrm>
            <a:off x="877824" y="202996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celula_2_2"/>
          <p:cNvSpPr/>
          <p:nvPr/>
        </p:nvSpPr>
        <p:spPr>
          <a:xfrm>
            <a:off x="1298448" y="202996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celula_2_3"/>
          <p:cNvSpPr/>
          <p:nvPr/>
        </p:nvSpPr>
        <p:spPr>
          <a:xfrm>
            <a:off x="1719072" y="202996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celula_2_4"/>
          <p:cNvSpPr/>
          <p:nvPr/>
        </p:nvSpPr>
        <p:spPr>
          <a:xfrm>
            <a:off x="2139696" y="202996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celula_2_5"/>
          <p:cNvSpPr/>
          <p:nvPr/>
        </p:nvSpPr>
        <p:spPr>
          <a:xfrm>
            <a:off x="2560320" y="202996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celula_2_6"/>
          <p:cNvSpPr/>
          <p:nvPr/>
        </p:nvSpPr>
        <p:spPr>
          <a:xfrm>
            <a:off x="2980944" y="2029968"/>
            <a:ext cx="420624" cy="42062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celula_2_7"/>
          <p:cNvSpPr/>
          <p:nvPr/>
        </p:nvSpPr>
        <p:spPr>
          <a:xfrm>
            <a:off x="3401568" y="202996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celula_3_0"/>
          <p:cNvSpPr/>
          <p:nvPr/>
        </p:nvSpPr>
        <p:spPr>
          <a:xfrm>
            <a:off x="457200" y="2450592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celula_3_1"/>
          <p:cNvSpPr/>
          <p:nvPr/>
        </p:nvSpPr>
        <p:spPr>
          <a:xfrm>
            <a:off x="877824" y="2450592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celula_3_2"/>
          <p:cNvSpPr/>
          <p:nvPr/>
        </p:nvSpPr>
        <p:spPr>
          <a:xfrm>
            <a:off x="1298448" y="2450592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celula_3_3"/>
          <p:cNvSpPr/>
          <p:nvPr/>
        </p:nvSpPr>
        <p:spPr>
          <a:xfrm>
            <a:off x="1719072" y="2450592"/>
            <a:ext cx="420624" cy="42062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celula_3_4"/>
          <p:cNvSpPr/>
          <p:nvPr/>
        </p:nvSpPr>
        <p:spPr>
          <a:xfrm>
            <a:off x="2139696" y="2450592"/>
            <a:ext cx="420624" cy="42062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celula_3_5"/>
          <p:cNvSpPr/>
          <p:nvPr/>
        </p:nvSpPr>
        <p:spPr>
          <a:xfrm>
            <a:off x="2560320" y="2450592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celula_3_6"/>
          <p:cNvSpPr/>
          <p:nvPr/>
        </p:nvSpPr>
        <p:spPr>
          <a:xfrm>
            <a:off x="2980944" y="2450592"/>
            <a:ext cx="420624" cy="42062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celula_3_7"/>
          <p:cNvSpPr/>
          <p:nvPr/>
        </p:nvSpPr>
        <p:spPr>
          <a:xfrm>
            <a:off x="3401568" y="2450592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celula_4_0"/>
          <p:cNvSpPr/>
          <p:nvPr/>
        </p:nvSpPr>
        <p:spPr>
          <a:xfrm>
            <a:off x="457200" y="2871216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celula_4_1"/>
          <p:cNvSpPr/>
          <p:nvPr/>
        </p:nvSpPr>
        <p:spPr>
          <a:xfrm>
            <a:off x="877824" y="2871216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celula_4_2"/>
          <p:cNvSpPr/>
          <p:nvPr/>
        </p:nvSpPr>
        <p:spPr>
          <a:xfrm>
            <a:off x="1298448" y="2871216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celula_4_3"/>
          <p:cNvSpPr/>
          <p:nvPr/>
        </p:nvSpPr>
        <p:spPr>
          <a:xfrm>
            <a:off x="1719072" y="2871216"/>
            <a:ext cx="420624" cy="42062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celula_4_4"/>
          <p:cNvSpPr/>
          <p:nvPr/>
        </p:nvSpPr>
        <p:spPr>
          <a:xfrm>
            <a:off x="2139696" y="2871216"/>
            <a:ext cx="420624" cy="42062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celula_4_5"/>
          <p:cNvSpPr/>
          <p:nvPr/>
        </p:nvSpPr>
        <p:spPr>
          <a:xfrm>
            <a:off x="2560320" y="2871216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celula_4_6"/>
          <p:cNvSpPr/>
          <p:nvPr/>
        </p:nvSpPr>
        <p:spPr>
          <a:xfrm>
            <a:off x="2980944" y="2871216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2" name="celula_4_7"/>
          <p:cNvSpPr/>
          <p:nvPr/>
        </p:nvSpPr>
        <p:spPr>
          <a:xfrm>
            <a:off x="3401568" y="2871216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3" name="celula_5_0"/>
          <p:cNvSpPr/>
          <p:nvPr/>
        </p:nvSpPr>
        <p:spPr>
          <a:xfrm>
            <a:off x="457200" y="329184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celula_5_1"/>
          <p:cNvSpPr/>
          <p:nvPr/>
        </p:nvSpPr>
        <p:spPr>
          <a:xfrm>
            <a:off x="877824" y="329184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5" name="celula_5_2"/>
          <p:cNvSpPr/>
          <p:nvPr/>
        </p:nvSpPr>
        <p:spPr>
          <a:xfrm>
            <a:off x="1298448" y="329184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6" name="celula_5_3"/>
          <p:cNvSpPr/>
          <p:nvPr/>
        </p:nvSpPr>
        <p:spPr>
          <a:xfrm>
            <a:off x="1719072" y="329184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7" name="celula_5_4"/>
          <p:cNvSpPr/>
          <p:nvPr/>
        </p:nvSpPr>
        <p:spPr>
          <a:xfrm>
            <a:off x="2139696" y="329184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8" name="celula_5_5"/>
          <p:cNvSpPr/>
          <p:nvPr/>
        </p:nvSpPr>
        <p:spPr>
          <a:xfrm>
            <a:off x="2560320" y="329184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9" name="celula_5_6"/>
          <p:cNvSpPr/>
          <p:nvPr/>
        </p:nvSpPr>
        <p:spPr>
          <a:xfrm>
            <a:off x="2980944" y="329184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0" name="celula_5_7"/>
          <p:cNvSpPr/>
          <p:nvPr/>
        </p:nvSpPr>
        <p:spPr>
          <a:xfrm>
            <a:off x="3401568" y="3291840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1" name="celula_6_0"/>
          <p:cNvSpPr/>
          <p:nvPr/>
        </p:nvSpPr>
        <p:spPr>
          <a:xfrm>
            <a:off x="457200" y="371246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2" name="celula_6_1"/>
          <p:cNvSpPr/>
          <p:nvPr/>
        </p:nvSpPr>
        <p:spPr>
          <a:xfrm>
            <a:off x="877824" y="371246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3" name="celula_6_2"/>
          <p:cNvSpPr/>
          <p:nvPr/>
        </p:nvSpPr>
        <p:spPr>
          <a:xfrm>
            <a:off x="1298448" y="3712464"/>
            <a:ext cx="420624" cy="42062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4" name="celula_6_3"/>
          <p:cNvSpPr/>
          <p:nvPr/>
        </p:nvSpPr>
        <p:spPr>
          <a:xfrm>
            <a:off x="1719072" y="371246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5" name="celula_6_4"/>
          <p:cNvSpPr/>
          <p:nvPr/>
        </p:nvSpPr>
        <p:spPr>
          <a:xfrm>
            <a:off x="2139696" y="371246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6" name="celula_6_5"/>
          <p:cNvSpPr/>
          <p:nvPr/>
        </p:nvSpPr>
        <p:spPr>
          <a:xfrm>
            <a:off x="2560320" y="371246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7" name="celula_6_6"/>
          <p:cNvSpPr/>
          <p:nvPr/>
        </p:nvSpPr>
        <p:spPr>
          <a:xfrm>
            <a:off x="2980944" y="3712464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8" name="celula_6_7"/>
          <p:cNvSpPr/>
          <p:nvPr/>
        </p:nvSpPr>
        <p:spPr>
          <a:xfrm>
            <a:off x="3401568" y="3712464"/>
            <a:ext cx="420624" cy="42062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9" name="celula_7_0"/>
          <p:cNvSpPr/>
          <p:nvPr/>
        </p:nvSpPr>
        <p:spPr>
          <a:xfrm>
            <a:off x="457200" y="413308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0" name="celula_7_1"/>
          <p:cNvSpPr/>
          <p:nvPr/>
        </p:nvSpPr>
        <p:spPr>
          <a:xfrm>
            <a:off x="877824" y="413308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1" name="celula_7_2"/>
          <p:cNvSpPr/>
          <p:nvPr/>
        </p:nvSpPr>
        <p:spPr>
          <a:xfrm>
            <a:off x="1298448" y="4133088"/>
            <a:ext cx="420624" cy="42062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2" name="celula_7_3"/>
          <p:cNvSpPr/>
          <p:nvPr/>
        </p:nvSpPr>
        <p:spPr>
          <a:xfrm>
            <a:off x="1719072" y="413308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3" name="celula_7_4"/>
          <p:cNvSpPr/>
          <p:nvPr/>
        </p:nvSpPr>
        <p:spPr>
          <a:xfrm>
            <a:off x="2139696" y="413308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4" name="celula_7_5"/>
          <p:cNvSpPr/>
          <p:nvPr/>
        </p:nvSpPr>
        <p:spPr>
          <a:xfrm>
            <a:off x="2560320" y="4133088"/>
            <a:ext cx="42062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5" name="celula_7_6"/>
          <p:cNvSpPr/>
          <p:nvPr/>
        </p:nvSpPr>
        <p:spPr>
          <a:xfrm>
            <a:off x="2980944" y="4133088"/>
            <a:ext cx="420624" cy="42062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6" name="celula_7_7"/>
          <p:cNvSpPr/>
          <p:nvPr/>
        </p:nvSpPr>
        <p:spPr>
          <a:xfrm>
            <a:off x="3401568" y="4133088"/>
            <a:ext cx="420624" cy="42062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7" name="leg0"/>
          <p:cNvSpPr/>
          <p:nvPr/>
        </p:nvSpPr>
        <p:spPr>
          <a:xfrm>
            <a:off x="4023360" y="1280160"/>
            <a:ext cx="201168" cy="2011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315968" y="1261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T0: linhas 0-1</a:t>
            </a:r>
            <a:endParaRPr lang="en-US" sz="1200" dirty="0"/>
          </a:p>
        </p:txBody>
      </p:sp>
      <p:sp>
        <p:nvSpPr>
          <p:cNvPr id="69" name="leg1"/>
          <p:cNvSpPr/>
          <p:nvPr/>
        </p:nvSpPr>
        <p:spPr>
          <a:xfrm>
            <a:off x="4023360" y="2121408"/>
            <a:ext cx="201168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315968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T1: linhas 2-3</a:t>
            </a:r>
            <a:endParaRPr lang="en-US" sz="1200" dirty="0"/>
          </a:p>
        </p:txBody>
      </p:sp>
      <p:sp>
        <p:nvSpPr>
          <p:cNvPr id="71" name="leg2"/>
          <p:cNvSpPr/>
          <p:nvPr/>
        </p:nvSpPr>
        <p:spPr>
          <a:xfrm>
            <a:off x="4023360" y="2962656"/>
            <a:ext cx="201168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315968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T2: linhas 4-5</a:t>
            </a:r>
            <a:endParaRPr lang="en-US" sz="1200" dirty="0"/>
          </a:p>
        </p:txBody>
      </p:sp>
      <p:sp>
        <p:nvSpPr>
          <p:cNvPr id="73" name="leg3"/>
          <p:cNvSpPr/>
          <p:nvPr/>
        </p:nvSpPr>
        <p:spPr>
          <a:xfrm>
            <a:off x="4023360" y="3803904"/>
            <a:ext cx="201168" cy="20116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315968" y="3785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T3: linhas 6-7</a:t>
            </a:r>
            <a:endParaRPr lang="en-US" sz="1200" dirty="0"/>
          </a:p>
        </p:txBody>
      </p:sp>
      <p:sp>
        <p:nvSpPr>
          <p:cNvPr id="75" name="card"/>
          <p:cNvSpPr/>
          <p:nvPr/>
        </p:nvSpPr>
        <p:spPr>
          <a:xfrm>
            <a:off x="5669280" y="118872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5852160" y="132588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Como as faixas são calculadas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faixa = L / p, e as primeiras L mod p faixas recebem 1 linha a mais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Ex.: L=10, p=4 resulta em 3, 3, 2, 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 p &gt; L, p vira L (sem faixas vazias)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vem da linha de comando: ./contador arquivo 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Fase paralela e sincronização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56616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Quem escreve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Proteção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dados (entrada)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ninguém (só leitura)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não precisa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labels (L x C)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cada thread, só nas suas linhas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partição disjunta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pilha do flood fill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própria thread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uma por thread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Worker[t]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principal, antes do create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lido só pela thread 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union-find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principal, após o join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pthread_join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3657600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37307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Sem mutex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não há escrita compartilhada, logo não há corrida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3246120" y="3657600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383280" y="37307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Sem deadlock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não há locks para esperar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035040" y="3657600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72200" y="37307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join = barreira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consolidação só começa com todas as threads concluídas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Consolidação: fronteiras e union-find</a:t>
            </a:r>
            <a:endParaRPr lang="en-US" sz="3000" dirty="0"/>
          </a:p>
        </p:txBody>
      </p:sp>
      <p:sp>
        <p:nvSpPr>
          <p:cNvPr id="3" name="badge1"/>
          <p:cNvSpPr txBox="1"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1887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Rótulo local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linha·C + coluna + 1 da célula-semente: único em toda a matriz</a:t>
            </a:r>
            <a:endParaRPr lang="en-US" sz="1400" dirty="0"/>
          </a:p>
        </p:txBody>
      </p:sp>
      <p:sp>
        <p:nvSpPr>
          <p:cNvPr id="5" name="badge2"/>
          <p:cNvSpPr txBox="1"/>
          <p:nvPr/>
        </p:nvSpPr>
        <p:spPr>
          <a:xfrm>
            <a:off x="457200" y="20848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3911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Fronteira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última linha da faixa com a primeira da seguinte: colunas j-1, j e j+1 (pega a diagonal)</a:t>
            </a:r>
            <a:endParaRPr lang="en-US" sz="1400" dirty="0"/>
          </a:p>
        </p:txBody>
      </p:sp>
      <p:sp>
        <p:nvSpPr>
          <p:cNvPr id="7" name="badge3"/>
          <p:cNvSpPr txBox="1"/>
          <p:nvPr/>
        </p:nvSpPr>
        <p:spPr>
          <a:xfrm>
            <a:off x="457200" y="29352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8950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União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unir(rótulo A, rótulo B) com path halving</a:t>
            </a:r>
            <a:endParaRPr lang="en-US" sz="1400" dirty="0"/>
          </a:p>
        </p:txBody>
      </p:sp>
      <p:sp>
        <p:nvSpPr>
          <p:cNvPr id="9" name="badge4"/>
          <p:cNvSpPr txBox="1"/>
          <p:nvPr/>
        </p:nvSpPr>
        <p:spPr>
          <a:xfrm>
            <a:off x="457200" y="37856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73989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Contagem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soma das contagens locais − uniões efetivas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394960" y="1188720"/>
            <a:ext cx="3291840" cy="338328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77840" y="13258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Exemplo 3, p = 2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(3,3): 3·8+3+1 = 28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semente (4,3): 4·8+3+1 = 36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 linhas 3/4, col 3-4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4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unir(28, 36)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6 componentes locais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8FD9A8"/>
                </a:solidFill>
              </a:rPr>
              <a:t>6 − 1 união = 5 objetos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que é paralelo e o que continua sequencial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73736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Etapa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Execução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Custo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Leitura do arquivo (fora do tempo medido)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sequencial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O(L·C)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Particionamento em faixas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sequencial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O(p)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Rotulação local (flood fill)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PARALELA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O(L·C / p)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Uniões nas fronteiras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sequencial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O(p·C)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Alocar rótulos + iniciar union-find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sequencial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O(L·C)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Limite de aceleração (Amdahl):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alocação O(L·C) na thread principal e a criação das threads limitam S(p). Matrizes pequenas não compensam esse custo, por isso medimos com uma matriz grande.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Testes de correção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371600"/>
                <a:gridCol w="1005840"/>
                <a:gridCol w="3566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Matriz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Dim.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Esperado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Seq.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Paralelo (1, 2, 4, 8 threads)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Ex. 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5x5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3 em todas  (aprovado)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Ex. 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6x8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4 em todas  (aprovado)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Ex. 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8x8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5 em todas  (aprovado)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Ex. 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9x12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6 em todas  (aprovado)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Ex. 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12x12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7 em todas  (aprovado)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352044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casos adicionais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zeros, coluna multifaixa, diagonal, uma linha, tudo 1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3246120" y="352044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38328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300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matrizes aleatórias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seq x par, 1 a 64 threads, 0 divergências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035040" y="352044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72200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avisos de compilação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cc -std=c89 -Wall -Wextra -pedantic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Desempenho: metodologia e resultados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200400" cy="34290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Metodologia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Mesma matriz grande nas duas versões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Só a contagem é medida (sem ler arquivo)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clock_gettime(CLOCK_MONOTONIC)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 repetições por configuração, mediana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S(p) = Tseq / Tpar(p)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E(p) = S(p) / p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Resultado conferido a cada repetição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1188720"/>
          <a:ext cx="4800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02920"/>
                <a:gridCol w="128016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Versão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Mediana (ms)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S(p)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E(p)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Sequencial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236,30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Paralela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274,96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Paralela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136,88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1,73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Paralela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92,57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2,55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Paralela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84,24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2,81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886200" y="38404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Matriz: 2000x2000, ~50% de 1s (genMatriz.py, semente 2026), 13345 objetos. Ambiente: i7-1185G7, 4 núcleos/8 threads, Windows 11, zig cc 0.16 -O2. Dados: results/medicoes.csv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Problemas encontrados e corrigidos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4" name="badge1"/>
          <p:cNvSpPr txBox="1"/>
          <p:nvPr/>
        </p:nvSpPr>
        <p:spPr>
          <a:xfrm>
            <a:off x="594360" y="13807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Recursão no flood fill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   &gt;   pilha explícita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093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800x800 com 1 thread estourava a pilha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57200" y="2039112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8" name="badge2"/>
          <p:cNvSpPr txBox="1"/>
          <p:nvPr/>
        </p:nvSpPr>
        <p:spPr>
          <a:xfrm>
            <a:off x="594360" y="223113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13055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Threads invadiam a faixa vizinha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   &gt;   flood fill limitado à faixa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4597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eliminou a condição de corrida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57200" y="2889504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2" name="badge3"/>
          <p:cNvSpPr txBox="1"/>
          <p:nvPr/>
        </p:nvSpPr>
        <p:spPr>
          <a:xfrm>
            <a:off x="594360" y="30815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98094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Objeto na fronteira contado 2x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   &gt;   union-find nas bordas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101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total = soma local − uniões efetivas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57200" y="3739896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6" name="badge4"/>
          <p:cNvSpPr txBox="1"/>
          <p:nvPr/>
        </p:nvSpPr>
        <p:spPr>
          <a:xfrm>
            <a:off x="594360" y="3931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3133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Erros de pthread e malloc sem tratamento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   &gt;   retorna -1 e libera os recursos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1605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falha distinguível de resultado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Conclusões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4B183"/>
                </a:solidFill>
              </a:rPr>
              <a:t>Entregue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Sequencial e paralela com o mesmo resultado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Fronteiras (inclusive diagonais) unificadas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Sem corrida, sem deadlock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Testes obrigatórios e aleatórios aprovados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3246120" y="118872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29000" y="132588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4B183"/>
                </a:solidFill>
              </a:rPr>
              <a:t>Limitações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Faixas estáticas de linhas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Uniões e varreduras só na thread principal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Matrizes pequenas não compensam threads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325880"/>
            <a:ext cx="2286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4B183"/>
                </a:solidFill>
              </a:rPr>
              <a:t>Trabalho futuro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Fila dinâmica de blocos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Consolidação paralela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Versão com processos POSIX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OP">
  <a:themeElements>
    <a:clrScheme name="SISOP">
      <a:dk1>
        <a:srgbClr val="16212E"/>
      </a:dk1>
      <a:lt1>
        <a:srgbClr val="FFFFFF"/>
      </a:lt1>
      <a:dk2>
        <a:srgbClr val="0F3D4C"/>
      </a:dk2>
      <a:lt2>
        <a:srgbClr val="EEF3F6"/>
      </a:lt2>
      <a:accent1>
        <a:srgbClr val="1B8A8F"/>
      </a:accent1>
      <a:accent2>
        <a:srgbClr val="E8833A"/>
      </a:accent2>
      <a:accent3>
        <a:srgbClr val="2F6DB5"/>
      </a:accent3>
      <a:accent4>
        <a:srgbClr val="6B7A89"/>
      </a:accent4>
      <a:accent5>
        <a:srgbClr val="C0392B"/>
      </a:accent5>
      <a:accent6>
        <a:srgbClr val="2E9E6B"/>
      </a:accent6>
      <a:hlink>
        <a:srgbClr val="2F6DB5"/>
      </a:hlink>
      <a:folHlink>
        <a:srgbClr val="6B7A89"/>
      </a:folHlink>
    </a:clrScheme>
    <a:fontScheme name="SIS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Contagem paralela de objetos em matriz binária</dc:title>
  <dc:subject>PptxGenJS Presentation</dc:subject>
  <dc:creator>Sistemas Operacionais - PUCRS 2026/II</dc:creator>
  <cp:lastModifiedBy>Sistemas Operacionais - PUCRS 2026/II</cp:lastModifiedBy>
  <cp:revision>1</cp:revision>
  <dcterms:created xsi:type="dcterms:W3CDTF">2026-10-04T19:38:23Z</dcterms:created>
  <dcterms:modified xsi:type="dcterms:W3CDTF">2026-10-04T19:38:23Z</dcterms:modified>
</cp:coreProperties>
</file>